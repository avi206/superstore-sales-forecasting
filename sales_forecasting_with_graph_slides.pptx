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6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 snapToGrid="0" snapToObjects="1">
      <p:cViewPr varScale="1">
        <p:scale>
          <a:sx n="83" d="100"/>
          <a:sy n="83" d="100"/>
        </p:scale>
        <p:origin x="154" y="9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4411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738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B5F126-5EEB-4EA9-A26E-89B796936BB9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4777F3-0EF3-4194-828A-A88D7BB155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3296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4777F3-0EF3-4194-828A-A88D7BB1557B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846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7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8"/>
            <a:ext cx="27432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976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055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753535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6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2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381003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3" y="381002"/>
            <a:ext cx="64374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909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1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61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32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10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2" y="3132668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8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931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541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46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1" y="746761"/>
            <a:ext cx="6510619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201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442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7" y="751243"/>
            <a:ext cx="3644963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201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467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2"/>
            <a:ext cx="10822035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41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7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96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4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5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2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37994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3" y="381002"/>
            <a:ext cx="64374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4085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8" y="753534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8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8" y="3959864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2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37994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3" y="381002"/>
            <a:ext cx="64374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1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1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973547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3"/>
            <a:ext cx="10146187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7"/>
            <a:ext cx="10144655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5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1" y="378885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3" y="381002"/>
            <a:ext cx="64374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5625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2" y="762001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9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5033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2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2"/>
            <a:ext cx="3451583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6"/>
            <a:ext cx="3451583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5" y="4191002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6" y="4873765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2" y="4191002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9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2" y="4873763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8538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61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065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8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8" y="745069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1" y="381002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3" y="381002"/>
            <a:ext cx="64374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196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2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2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7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8108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  <p:sldLayoutId id="2147483793" r:id="rId13"/>
    <p:sldLayoutId id="2147483794" r:id="rId14"/>
    <p:sldLayoutId id="2147483795" r:id="rId15"/>
    <p:sldLayoutId id="2147483796" r:id="rId16"/>
    <p:sldLayoutId id="2147483797" r:id="rId17"/>
  </p:sldLayoutIdLst>
  <p:txStyles>
    <p:titleStyle>
      <a:lvl1pPr algn="r" defTabSz="914377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Sales Forecasting Using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Dataset: Global Superstore (Kaggle)</a:t>
            </a:r>
          </a:p>
          <a:p>
            <a:r>
              <a:rPr dirty="0"/>
              <a:t>Tools: Python, Pandas, Scikit-learn, Matplotlib</a:t>
            </a:r>
          </a:p>
          <a:p>
            <a:r>
              <a:rPr dirty="0"/>
              <a:t>Model: Machine Learning Regression Model</a:t>
            </a:r>
          </a:p>
          <a:p>
            <a:r>
              <a:rPr dirty="0"/>
              <a:t>Author: Student Project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Predict future sales using historical retail data</a:t>
            </a:r>
          </a:p>
          <a:p>
            <a:r>
              <a:rPr dirty="0"/>
              <a:t>• Identify factors influencing sales performance</a:t>
            </a:r>
          </a:p>
          <a:p>
            <a:r>
              <a:rPr dirty="0"/>
              <a:t>• Use machine learning to improve demand forecasting</a:t>
            </a:r>
          </a:p>
          <a:p>
            <a:r>
              <a:rPr dirty="0"/>
              <a:t>• Help businesses make data-driven decisions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Retail companies often struggle with:</a:t>
            </a:r>
          </a:p>
          <a:p>
            <a:r>
              <a:rPr dirty="0"/>
              <a:t>Inventory overstock or shortages</a:t>
            </a:r>
          </a:p>
          <a:p>
            <a:r>
              <a:rPr dirty="0"/>
              <a:t>Poor demand prediction</a:t>
            </a:r>
          </a:p>
          <a:p>
            <a:r>
              <a:rPr dirty="0"/>
              <a:t>Inefficient supply chain planning</a:t>
            </a:r>
          </a:p>
          <a:p>
            <a:r>
              <a:rPr dirty="0"/>
              <a:t>Revenue loss due to inaccurate forecasting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Dataset: Global Superstore Dataset (Kaggle)</a:t>
            </a:r>
          </a:p>
          <a:p>
            <a:r>
              <a:rPr dirty="0"/>
              <a:t>Contains historical retail transactions including:</a:t>
            </a:r>
          </a:p>
          <a:p>
            <a:r>
              <a:rPr dirty="0"/>
              <a:t>Order Date and Ship Date</a:t>
            </a:r>
          </a:p>
          <a:p>
            <a:r>
              <a:rPr dirty="0"/>
              <a:t> Product Category and Sub-category</a:t>
            </a:r>
          </a:p>
          <a:p>
            <a:r>
              <a:rPr dirty="0"/>
              <a:t> Sales, Profit, Quantity, Discount</a:t>
            </a:r>
          </a:p>
          <a:p>
            <a:r>
              <a:rPr dirty="0"/>
              <a:t> Region, Segment, and Shipping Mode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preprocessing steps:</a:t>
            </a:r>
          </a:p>
          <a:p>
            <a:r>
              <a:t>• Handling missing values</a:t>
            </a:r>
          </a:p>
          <a:p>
            <a:r>
              <a:t>• Removing irrelevant columns</a:t>
            </a:r>
          </a:p>
          <a:p>
            <a:r>
              <a:t>• Encoding categorical variables</a:t>
            </a:r>
          </a:p>
          <a:p>
            <a:r>
              <a:t>• Feature scaling where required</a:t>
            </a:r>
          </a:p>
          <a:p>
            <a:r>
              <a:t>• Splitting data into training and testing sets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EDA revealed several important trends:</a:t>
            </a:r>
          </a:p>
          <a:p>
            <a:r>
              <a:t>• Technology products generate highest revenue</a:t>
            </a:r>
          </a:p>
          <a:p>
            <a:r>
              <a:t>• Sales vary across different regions</a:t>
            </a:r>
          </a:p>
          <a:p>
            <a:r>
              <a:t>• Discounts strongly influence profit</a:t>
            </a:r>
          </a:p>
          <a:p>
            <a:r>
              <a:t>• Seasonal patterns exist in sales trends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Machine Learning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Models Tested:</a:t>
            </a:r>
          </a:p>
          <a:p>
            <a:r>
              <a:rPr dirty="0"/>
              <a:t>• Linear Regression (Baseline model)</a:t>
            </a:r>
          </a:p>
          <a:p>
            <a:r>
              <a:rPr dirty="0"/>
              <a:t>• Random Forest Regressor (Advanced model)</a:t>
            </a:r>
          </a:p>
          <a:p>
            <a:r>
              <a:rPr dirty="0"/>
              <a:t>Random Forest was selected due to its ability to capture complex relationships in data.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Model Performance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Evaluation Metrics Used:</a:t>
            </a:r>
          </a:p>
          <a:p>
            <a:r>
              <a:rPr dirty="0"/>
              <a:t> R² Score</a:t>
            </a:r>
          </a:p>
          <a:p>
            <a:r>
              <a:rPr dirty="0"/>
              <a:t> Mean Absolute Error (MAE)</a:t>
            </a:r>
          </a:p>
          <a:p>
            <a:r>
              <a:rPr lang="en-US" dirty="0"/>
              <a:t> </a:t>
            </a:r>
            <a:r>
              <a:rPr dirty="0"/>
              <a:t>Root Mean Squared Error (RMSE)</a:t>
            </a:r>
          </a:p>
          <a:p>
            <a:r>
              <a:rPr dirty="0"/>
              <a:t> Mean Absolute Percentage Error (MAPE)</a:t>
            </a:r>
          </a:p>
          <a:p>
            <a:r>
              <a:rPr lang="en-IN" dirty="0"/>
              <a:t>R</a:t>
            </a:r>
            <a:r>
              <a:rPr dirty="0" err="1"/>
              <a:t>andom</a:t>
            </a:r>
            <a:r>
              <a:rPr dirty="0"/>
              <a:t> Forest showed improved prediction accuracy.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Business Insights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Focus on high-performing product categories</a:t>
            </a:r>
          </a:p>
          <a:p>
            <a:r>
              <a:rPr dirty="0"/>
              <a:t>• Optimize discount strategies to protect profit</a:t>
            </a:r>
          </a:p>
          <a:p>
            <a:r>
              <a:rPr dirty="0"/>
              <a:t>• Use forecasts for inventory planning</a:t>
            </a:r>
          </a:p>
          <a:p>
            <a:r>
              <a:rPr dirty="0"/>
              <a:t>• Invest in regions with strong demand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140003-642C-293B-4BB0-19F9F242F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" y="1945271"/>
            <a:ext cx="8849591" cy="4672584"/>
          </a:xfrm>
          <a:prstGeom prst="rect">
            <a:avLst/>
          </a:prstGeom>
          <a:ln>
            <a:solidFill>
              <a:schemeClr val="accent2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Actual vs Predicted Sales Line Chart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Prediction Error Distribution (Residual Histogram)</a:t>
            </a:r>
          </a:p>
        </p:txBody>
      </p:sp>
      <p:pic>
        <p:nvPicPr>
          <p:cNvPr id="8" name="Picture 7" descr="A graph with numbers and a number of blue bars">
            <a:extLst>
              <a:ext uri="{FF2B5EF4-FFF2-40B4-BE49-F238E27FC236}">
                <a16:creationId xmlns:a16="http://schemas.microsoft.com/office/drawing/2014/main" id="{463E585E-CFEC-7CFB-F9C1-3B40ED9E2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05993"/>
            <a:ext cx="7334270" cy="455200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Feature Importance Chart (Random Forest)</a:t>
            </a:r>
          </a:p>
        </p:txBody>
      </p:sp>
      <p:pic>
        <p:nvPicPr>
          <p:cNvPr id="9" name="Picture 8" descr="A graph of blue bars with white text">
            <a:extLst>
              <a:ext uri="{FF2B5EF4-FFF2-40B4-BE49-F238E27FC236}">
                <a16:creationId xmlns:a16="http://schemas.microsoft.com/office/drawing/2014/main" id="{D8659A25-0CEB-F1C5-4222-257A92CDF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21" y="2057401"/>
            <a:ext cx="7179125" cy="47316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Actual vs Predicted Scatter Plot</a:t>
            </a:r>
          </a:p>
        </p:txBody>
      </p:sp>
      <p:pic>
        <p:nvPicPr>
          <p:cNvPr id="5" name="Picture 4" descr="A graph with blue dots">
            <a:extLst>
              <a:ext uri="{FF2B5EF4-FFF2-40B4-BE49-F238E27FC236}">
                <a16:creationId xmlns:a16="http://schemas.microsoft.com/office/drawing/2014/main" id="{C71ED528-D78E-424E-9110-373B9559E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3165"/>
            <a:ext cx="6980525" cy="50748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Conclusion &amp; 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This project demonstrates how machine learning improves sales forecasting.</a:t>
            </a:r>
          </a:p>
          <a:p>
            <a:endParaRPr dirty="0"/>
          </a:p>
          <a:p>
            <a:r>
              <a:rPr dirty="0"/>
              <a:t>Future improvements:</a:t>
            </a:r>
          </a:p>
          <a:p>
            <a:r>
              <a:rPr dirty="0"/>
              <a:t>• Use advanced models like </a:t>
            </a:r>
            <a:r>
              <a:rPr dirty="0" err="1"/>
              <a:t>XGBoost</a:t>
            </a:r>
            <a:r>
              <a:rPr dirty="0"/>
              <a:t> or LSTM</a:t>
            </a:r>
          </a:p>
          <a:p>
            <a:r>
              <a:rPr dirty="0"/>
              <a:t>• Include external factors such as holidays</a:t>
            </a:r>
          </a:p>
          <a:p>
            <a:r>
              <a:rPr dirty="0"/>
              <a:t>• Apply hyperparameter tuning for better accuracy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32</TotalTime>
  <Words>364</Words>
  <Application>Microsoft Office PowerPoint</Application>
  <PresentationFormat>Widescreen</PresentationFormat>
  <Paragraphs>65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Century Gothic</vt:lpstr>
      <vt:lpstr>Vapor Trail</vt:lpstr>
      <vt:lpstr>Sales Forecasting Using Machine Learning</vt:lpstr>
      <vt:lpstr>Project Objective</vt:lpstr>
      <vt:lpstr>Business Problem</vt:lpstr>
      <vt:lpstr>Dataset Description</vt:lpstr>
      <vt:lpstr>Data Preparation</vt:lpstr>
      <vt:lpstr>Exploratory Data Analysis</vt:lpstr>
      <vt:lpstr>Machine Learning Model</vt:lpstr>
      <vt:lpstr>Model Performance Evaluation</vt:lpstr>
      <vt:lpstr>Business Insights &amp; Recommendations</vt:lpstr>
      <vt:lpstr>Actual vs Predicted Sales Line Chart</vt:lpstr>
      <vt:lpstr>Prediction Error Distribution (Residual Histogram)</vt:lpstr>
      <vt:lpstr>Feature Importance Chart (Random Forest)</vt:lpstr>
      <vt:lpstr>Actual vs Predicted Scatter Plot</vt:lpstr>
      <vt:lpstr>Conclusion &amp; Future Improvements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Avinash Madhu</cp:lastModifiedBy>
  <cp:revision>2</cp:revision>
  <dcterms:created xsi:type="dcterms:W3CDTF">2013-01-27T09:14:16Z</dcterms:created>
  <dcterms:modified xsi:type="dcterms:W3CDTF">2026-03-11T04:38:38Z</dcterms:modified>
  <cp:category/>
</cp:coreProperties>
</file>